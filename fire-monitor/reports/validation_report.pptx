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embeddedFontLst>
    <p:embeddedFont>
      <p:font typeface="IBM Plex Sans"/>
      <p:regular r:id="rId201314"/>
    </p:embeddedFont>
    <p:embeddedFont>
      <p:font typeface="IBM Plex Sans SemiBold"/>
      <p:regular r:id="rId201315"/>
    </p:embeddedFont>
    <p:embeddedFont>
      <p:font typeface="IBM Plex Sans Bold"/>
      <p:regular r:id="rId201316"/>
    </p:embeddedFont>
    <p:embeddedFont>
      <p:font typeface="Inter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период 1–31 июля 2024 и кадр около 11 560 км² (≈38% Бельгии). Главный результат: 6 860 уникальных очагов из 335 075 сырых детекций, эталон Рослесхоза — 1 534 пожара. Recall 62,5% — хорошо, Precision 14% — много ложных срабатываний, поэтому нужна фильтрация. Время 1–1,5 мин — операционный замер демо, не метрика validation_report.md.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Объяснить, что низкие IoU и F1 не отменяют сильную корреляцию площадей r = 0,88. Причины расхождения: разная детализация Sentinel-2 и MODIS, размытая граница dNBR, месячный композит NASA и лаг дат −18,5 дня. Рекомендации: исторические VIIRS/FIRMS для очагов, эталон высокого разрешения для гарей.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7E7"/>
            </a:solidFill>
            <a:prstDash val="solid"/>
          </a:ln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0" y="1455440"/>
            <a:ext cx="12191695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14337" y="370364"/>
            <a:ext cx="11683708" cy="156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spc="76" kern="100" dirty="0">
                <a:solidFill>
                  <a:srgbClr val="21733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АКТИВНЫЕ ОЧАГИ · ИРКУТСКАЯ ОБЛАСТЬ · 1–31 ИЮЛЯ 2024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14337" y="590661"/>
            <a:ext cx="11175720" cy="398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800" b="1" spc="-42" kern="100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Активные очаги: нашли быстро, но нужна фильтрация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4337" y="1122085"/>
            <a:ext cx="1168370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Кадр валидации около 11 560 км² — примерно 38% площади Бельгии, зафиксирован как ранее сравнительный кадр.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4337" y="1588790"/>
            <a:ext cx="2679633" cy="1235670"/>
          </a:xfrm>
          <a:prstGeom prst="roundRect">
            <a:avLst>
              <a:gd name="adj" fmla="val 5612"/>
            </a:avLst>
          </a:prstGeom>
          <a:noFill/>
          <a:ln w="1905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1182" y="1800301"/>
            <a:ext cx="2285943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b="1" spc="-48" kern="100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6 860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11182" y="2310626"/>
            <a:ext cx="2285943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уникальных очагов после дедупликации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46366" y="1588790"/>
            <a:ext cx="2679633" cy="1235670"/>
          </a:xfrm>
          <a:prstGeom prst="roundRect">
            <a:avLst>
              <a:gd name="adj" fmla="val 5612"/>
            </a:avLst>
          </a:prstGeom>
          <a:noFill/>
          <a:ln w="1905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3211" y="1800301"/>
            <a:ext cx="2285943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b="1" spc="-48" kern="100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335 075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43211" y="2310626"/>
            <a:ext cx="248278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сырых детекций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8395" y="1588790"/>
            <a:ext cx="2679633" cy="1235670"/>
          </a:xfrm>
          <a:prstGeom prst="roundRect">
            <a:avLst>
              <a:gd name="adj" fmla="val 5612"/>
            </a:avLst>
          </a:prstGeom>
          <a:noFill/>
          <a:ln w="1905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5241" y="1800301"/>
            <a:ext cx="2285943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b="1" spc="-48" kern="100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1 534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75241" y="2310626"/>
            <a:ext cx="248278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пожара в эталоне Рослесхоза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10425" y="1588790"/>
            <a:ext cx="2679633" cy="1235670"/>
          </a:xfrm>
          <a:prstGeom prst="roundRect">
            <a:avLst>
              <a:gd name="adj" fmla="val 5612"/>
            </a:avLst>
          </a:prstGeom>
          <a:noFill/>
          <a:ln w="19050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07270" y="1800301"/>
            <a:ext cx="2285943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b="1" spc="-48" kern="100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1–1,5 мин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9207270" y="2310626"/>
            <a:ext cx="2285943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поиск очагов · операционный замер демо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4337" y="2951460"/>
            <a:ext cx="3623577" cy="1291630"/>
          </a:xfrm>
          <a:prstGeom prst="roundRect">
            <a:avLst>
              <a:gd name="adj" fmla="val 5368"/>
            </a:avLst>
          </a:prstGeom>
          <a:noFill/>
          <a:ln w="19050">
            <a:solidFill>
              <a:srgbClr val="D8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1182" y="3162971"/>
            <a:ext cx="3229886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b="1" spc="-48" kern="100" dirty="0">
                <a:solidFill>
                  <a:srgbClr val="C94B4B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14,0%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11182" y="3624386"/>
            <a:ext cx="3229886" cy="184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300" spc="-19" kern="100" dirty="0">
                <a:solidFill>
                  <a:srgbClr val="111111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Precision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1182" y="3902591"/>
            <a:ext cx="3426731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доля сигналов, которые действительно пожары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90310" y="2951460"/>
            <a:ext cx="3623676" cy="1291630"/>
          </a:xfrm>
          <a:prstGeom prst="roundRect">
            <a:avLst>
              <a:gd name="adj" fmla="val 5368"/>
            </a:avLst>
          </a:prstGeom>
          <a:noFill/>
          <a:ln w="19050">
            <a:solidFill>
              <a:srgbClr val="D8D4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7155" y="3162971"/>
            <a:ext cx="3229986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b="1" spc="-48" kern="100" dirty="0">
                <a:solidFill>
                  <a:srgbClr val="2E9B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62,5%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4487155" y="3624386"/>
            <a:ext cx="3229986" cy="184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300" spc="-19" kern="100" dirty="0">
                <a:solidFill>
                  <a:srgbClr val="111111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Recall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87155" y="3902591"/>
            <a:ext cx="3426831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доля пожаров, которые удалось найти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66382" y="2951460"/>
            <a:ext cx="3623676" cy="1291630"/>
          </a:xfrm>
          <a:prstGeom prst="roundRect">
            <a:avLst>
              <a:gd name="adj" fmla="val 5368"/>
            </a:avLst>
          </a:prstGeom>
          <a:noFill/>
          <a:ln w="19050">
            <a:solidFill>
              <a:srgbClr val="D8D4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63227" y="3162971"/>
            <a:ext cx="3229986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b="1" spc="-48" kern="100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22,9%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8263227" y="3624386"/>
            <a:ext cx="3229986" cy="184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300" spc="-19" kern="100" dirty="0">
                <a:solidFill>
                  <a:srgbClr val="111111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F1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63227" y="3902591"/>
            <a:ext cx="3426831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общий баланс Precision и Recall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14337" y="4374376"/>
            <a:ext cx="1168370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TP 959 · FP 5 901 · FN 575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14337" y="4670425"/>
            <a:ext cx="5511662" cy="89783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2" name="Shape 30"/>
          <p:cNvSpPr/>
          <p:nvPr/>
        </p:nvSpPr>
        <p:spPr>
          <a:xfrm>
            <a:off x="514337" y="4670425"/>
            <a:ext cx="38099" cy="897830"/>
          </a:xfrm>
          <a:prstGeom prst="rect">
            <a:avLst/>
          </a:prstGeom>
          <a:solidFill>
            <a:srgbClr val="2E9B52"/>
          </a:solidFill>
          <a:ln/>
        </p:spPr>
      </p:sp>
      <p:sp>
        <p:nvSpPr>
          <p:cNvPr id="33" name="Text 31"/>
          <p:cNvSpPr/>
          <p:nvPr/>
        </p:nvSpPr>
        <p:spPr>
          <a:xfrm>
            <a:off x="755631" y="4805680"/>
            <a:ext cx="5067173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Сильная сторона: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система находит 62,5% зарегистрированных пожаров и быстро формирует широкий список кандидатов.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78395" y="4670425"/>
            <a:ext cx="5511662" cy="89783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5" name="Shape 33"/>
          <p:cNvSpPr/>
          <p:nvPr/>
        </p:nvSpPr>
        <p:spPr>
          <a:xfrm>
            <a:off x="6178395" y="4670425"/>
            <a:ext cx="38099" cy="897830"/>
          </a:xfrm>
          <a:prstGeom prst="rect">
            <a:avLst/>
          </a:prstGeom>
          <a:solidFill>
            <a:srgbClr val="C94B4B"/>
          </a:solidFill>
          <a:ln/>
        </p:spPr>
      </p:sp>
      <p:sp>
        <p:nvSpPr>
          <p:cNvPr id="36" name="Text 34"/>
          <p:cNvSpPr/>
          <p:nvPr/>
        </p:nvSpPr>
        <p:spPr>
          <a:xfrm>
            <a:off x="6419689" y="4805680"/>
            <a:ext cx="5067173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Ограничение: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5 901 сигнал не подтвердился по реестру Рослесхоза. Precision — 14%. Однако реестр </a:t>
            </a:r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может содержать не все зарегистрированные или очень мелкие пожары. 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4337" y="5699542"/>
            <a:ext cx="1117572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Метод: буфер 500 м геодезический, допуск ±3 дня, дедупликация 500 м/±3 дня по уникальному очагу, а не по проходу спутника. Источники: Strela/FIRMS архив; Рослесхоз 1Т-ИСДМ через tochno.st.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0" y="1431032"/>
            <a:ext cx="12191695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14337" y="371426"/>
            <a:ext cx="11683708" cy="152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50" spc="75" kern="100" dirty="0">
                <a:solidFill>
                  <a:srgbClr val="2E9B52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КАРТИРОВАНИЕ ГАРЕЙ · SENTINEL-2 DNBR ПРОТИВ NASA MCD64A1 6.1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14337" y="586478"/>
            <a:ext cx="11175720" cy="391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750" b="1" spc="-41" kern="100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Гари: масштаб виден, контур требует честного эталона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14337" y="1100222"/>
            <a:ext cx="11683708" cy="208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Построение и сравнение гарей — 20–30 минут (операционный замер демо), 35 полигонов.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4337" y="1488182"/>
            <a:ext cx="3623577" cy="1269702"/>
          </a:xfrm>
          <a:prstGeom prst="roundRect">
            <a:avLst>
              <a:gd name="adj" fmla="val 5362"/>
            </a:avLst>
          </a:prstGeom>
          <a:noFill/>
          <a:ln w="1905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1182" y="1701648"/>
            <a:ext cx="3229886" cy="399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150" b="1" spc="-47" kern="100" dirty="0">
                <a:solidFill>
                  <a:srgbClr val="C94B4B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0,12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711182" y="2148846"/>
            <a:ext cx="322988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300" spc="-19" kern="100" dirty="0">
                <a:solidFill>
                  <a:srgbClr val="111111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IoU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1182" y="2423223"/>
            <a:ext cx="3426731" cy="168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совпадение контуров · цель ≥ 0,50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0310" y="1488182"/>
            <a:ext cx="3623676" cy="1269702"/>
          </a:xfrm>
          <a:prstGeom prst="roundRect">
            <a:avLst>
              <a:gd name="adj" fmla="val 5362"/>
            </a:avLst>
          </a:prstGeom>
          <a:noFill/>
          <a:ln w="1905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7155" y="1701648"/>
            <a:ext cx="3229986" cy="399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150" b="1" spc="-47" kern="100" dirty="0">
                <a:solidFill>
                  <a:srgbClr val="C94B4B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0,22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4487155" y="2148846"/>
            <a:ext cx="322998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300" spc="-19" kern="100" dirty="0">
                <a:solidFill>
                  <a:srgbClr val="111111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pixel F1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7155" y="2423223"/>
            <a:ext cx="3426831" cy="168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совпадение пикселей · цель ≥ 0,50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66382" y="1488182"/>
            <a:ext cx="3623676" cy="1269702"/>
          </a:xfrm>
          <a:prstGeom prst="roundRect">
            <a:avLst>
              <a:gd name="adj" fmla="val 5362"/>
            </a:avLst>
          </a:prstGeom>
          <a:noFill/>
          <a:ln w="19050">
            <a:solidFill>
              <a:srgbClr val="D8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63227" y="1701648"/>
            <a:ext cx="3229986" cy="399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150" b="1" spc="-47" kern="100" dirty="0">
                <a:solidFill>
                  <a:srgbClr val="2E9B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r = 0,88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8263227" y="2148846"/>
            <a:ext cx="322998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300" spc="-19" kern="100" dirty="0">
                <a:solidFill>
                  <a:srgbClr val="111111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Корреляция площадей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63227" y="2423223"/>
            <a:ext cx="3426831" cy="168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насколько правильно ранжируется масштаб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4337" y="2880221"/>
            <a:ext cx="3623577" cy="1748334"/>
          </a:xfrm>
          <a:prstGeom prst="roundRect">
            <a:avLst>
              <a:gd name="adj" fmla="val 3894"/>
            </a:avLst>
          </a:prstGeom>
          <a:noFill/>
          <a:ln w="19050">
            <a:solidFill>
              <a:srgbClr val="D8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1182" y="3093687"/>
            <a:ext cx="3229886" cy="399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150" b="1" spc="-47" kern="100" dirty="0">
                <a:solidFill>
                  <a:srgbClr val="C94B4B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78,3%</a:t>
            </a:r>
            <a:endParaRPr lang="en-US" sz="3150" dirty="0"/>
          </a:p>
        </p:txBody>
      </p:sp>
      <p:sp>
        <p:nvSpPr>
          <p:cNvPr id="20" name="Text 18"/>
          <p:cNvSpPr/>
          <p:nvPr/>
        </p:nvSpPr>
        <p:spPr>
          <a:xfrm>
            <a:off x="711182" y="3540885"/>
            <a:ext cx="322988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300" spc="-19" kern="100" dirty="0">
                <a:solidFill>
                  <a:srgbClr val="111111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Отклонение площадей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1182" y="3815262"/>
            <a:ext cx="3426731" cy="168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насколько расходятся площади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90310" y="2880221"/>
            <a:ext cx="3623676" cy="1748334"/>
          </a:xfrm>
          <a:prstGeom prst="roundRect">
            <a:avLst>
              <a:gd name="adj" fmla="val 3894"/>
            </a:avLst>
          </a:prstGeom>
          <a:noFill/>
          <a:ln w="19050">
            <a:solidFill>
              <a:srgbClr val="D8D4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7155" y="3093687"/>
            <a:ext cx="3229986" cy="399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150" b="1" spc="-47" kern="100" dirty="0">
                <a:solidFill>
                  <a:srgbClr val="C94B4B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−18,5 дня</a:t>
            </a:r>
            <a:endParaRPr lang="en-US" sz="3150" dirty="0"/>
          </a:p>
        </p:txBody>
      </p:sp>
      <p:sp>
        <p:nvSpPr>
          <p:cNvPr id="24" name="Text 22"/>
          <p:cNvSpPr/>
          <p:nvPr/>
        </p:nvSpPr>
        <p:spPr>
          <a:xfrm>
            <a:off x="4487155" y="3540885"/>
            <a:ext cx="322998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300" spc="-19" kern="100" dirty="0">
                <a:solidFill>
                  <a:srgbClr val="111111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Временной лаг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87155" y="3815262"/>
            <a:ext cx="3426831" cy="168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насколько разъезжаются даты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66382" y="2880221"/>
            <a:ext cx="3623676" cy="1748334"/>
          </a:xfrm>
          <a:prstGeom prst="roundRect">
            <a:avLst>
              <a:gd name="adj" fmla="val 3894"/>
            </a:avLst>
          </a:prstGeom>
          <a:noFill/>
          <a:ln w="19050">
            <a:solidFill>
              <a:srgbClr val="D8D4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63227" y="3093687"/>
            <a:ext cx="3229986" cy="399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150" b="1" spc="-47" kern="100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321 758 / </a:t>
            </a:r>
            <a:endParaRPr lang="en-US" sz="3150" dirty="0"/>
          </a:p>
        </p:txBody>
      </p:sp>
      <p:sp>
        <p:nvSpPr>
          <p:cNvPr id="28" name="Text 26"/>
          <p:cNvSpPr/>
          <p:nvPr/>
        </p:nvSpPr>
        <p:spPr>
          <a:xfrm>
            <a:off x="8263227" y="3572318"/>
            <a:ext cx="3229986" cy="399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150" b="1" spc="-47" kern="100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918 200 га</a:t>
            </a:r>
            <a:endParaRPr lang="en-US" sz="3150" dirty="0"/>
          </a:p>
        </p:txBody>
      </p:sp>
      <p:sp>
        <p:nvSpPr>
          <p:cNvPr id="29" name="Text 27"/>
          <p:cNvSpPr/>
          <p:nvPr/>
        </p:nvSpPr>
        <p:spPr>
          <a:xfrm>
            <a:off x="8263227" y="4019517"/>
            <a:ext cx="322998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300" spc="-19" kern="100" dirty="0">
                <a:solidFill>
                  <a:srgbClr val="111111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Площадь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63227" y="4293893"/>
            <a:ext cx="3426831" cy="168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«Стрела» / NASA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14337" y="4750891"/>
            <a:ext cx="5511662" cy="67151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2" name="Shape 30"/>
          <p:cNvSpPr/>
          <p:nvPr/>
        </p:nvSpPr>
        <p:spPr>
          <a:xfrm>
            <a:off x="514337" y="4750891"/>
            <a:ext cx="38099" cy="671513"/>
          </a:xfrm>
          <a:prstGeom prst="rect">
            <a:avLst/>
          </a:prstGeom>
          <a:solidFill>
            <a:srgbClr val="2E9B52"/>
          </a:solidFill>
          <a:ln/>
        </p:spPr>
      </p:sp>
      <p:sp>
        <p:nvSpPr>
          <p:cNvPr id="33" name="Text 31"/>
          <p:cNvSpPr/>
          <p:nvPr/>
        </p:nvSpPr>
        <p:spPr>
          <a:xfrm>
            <a:off x="755631" y="4882838"/>
            <a:ext cx="5067173" cy="417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Сильная сторона:</a:t>
            </a:r>
            <a:pPr algn="l" indent="0" marL="0">
              <a:lnSpc>
                <a:spcPct val="107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r = 0,88 — крупные выгорания ранжируются правильно.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78395" y="4750891"/>
            <a:ext cx="5511662" cy="67151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5" name="Shape 33"/>
          <p:cNvSpPr/>
          <p:nvPr/>
        </p:nvSpPr>
        <p:spPr>
          <a:xfrm>
            <a:off x="6178395" y="4750891"/>
            <a:ext cx="38099" cy="671513"/>
          </a:xfrm>
          <a:prstGeom prst="rect">
            <a:avLst/>
          </a:prstGeom>
          <a:solidFill>
            <a:srgbClr val="C94B4B"/>
          </a:solidFill>
          <a:ln/>
        </p:spPr>
      </p:sp>
      <p:sp>
        <p:nvSpPr>
          <p:cNvPr id="36" name="Text 34"/>
          <p:cNvSpPr/>
          <p:nvPr/>
        </p:nvSpPr>
        <p:spPr>
          <a:xfrm>
            <a:off x="6419689" y="4882838"/>
            <a:ext cx="5067173" cy="417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Ограничение:</a:t>
            </a:r>
            <a:pPr algn="l" indent="0" marL="0">
              <a:lnSpc>
                <a:spcPct val="107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IoU и F1 низкие. Sentinel-2 10–20 м против MODIS 500 м, dNBR размывает границы, NASA — месячный композит.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14337" y="5544741"/>
            <a:ext cx="5511662" cy="9036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Shape 36"/>
          <p:cNvSpPr/>
          <p:nvPr/>
        </p:nvSpPr>
        <p:spPr>
          <a:xfrm>
            <a:off x="514337" y="5544741"/>
            <a:ext cx="38099" cy="903684"/>
          </a:xfrm>
          <a:prstGeom prst="rect">
            <a:avLst/>
          </a:prstGeom>
          <a:solidFill>
            <a:srgbClr val="B87900"/>
          </a:solidFill>
          <a:ln/>
        </p:spPr>
      </p:sp>
      <p:sp>
        <p:nvSpPr>
          <p:cNvPr id="39" name="Text 37"/>
          <p:cNvSpPr/>
          <p:nvPr/>
        </p:nvSpPr>
        <p:spPr>
          <a:xfrm>
            <a:off x="755631" y="5681217"/>
            <a:ext cx="5270368" cy="152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50" spc="75" kern="100" dirty="0">
                <a:solidFill>
                  <a:srgbClr val="4A4A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ОЧАГИ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55631" y="5908859"/>
            <a:ext cx="5067173" cy="417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Загрузить исторические VIIRS/FIRMS и снизить FP через ML и фильтрацию промышленных зон.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178395" y="5544741"/>
            <a:ext cx="5511662" cy="9036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2" name="Shape 40"/>
          <p:cNvSpPr/>
          <p:nvPr/>
        </p:nvSpPr>
        <p:spPr>
          <a:xfrm>
            <a:off x="6178395" y="5544741"/>
            <a:ext cx="38099" cy="903684"/>
          </a:xfrm>
          <a:prstGeom prst="rect">
            <a:avLst/>
          </a:prstGeom>
          <a:solidFill>
            <a:srgbClr val="B87900"/>
          </a:solidFill>
          <a:ln/>
        </p:spPr>
      </p:sp>
      <p:sp>
        <p:nvSpPr>
          <p:cNvPr id="43" name="Text 41"/>
          <p:cNvSpPr/>
          <p:nvPr/>
        </p:nvSpPr>
        <p:spPr>
          <a:xfrm>
            <a:off x="6419689" y="5681217"/>
            <a:ext cx="5270368" cy="152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50" spc="75" kern="100" dirty="0">
                <a:solidFill>
                  <a:srgbClr val="4A4A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ГАРИ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419689" y="5908859"/>
            <a:ext cx="5067173" cy="417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Использовать эталон высокого разрешения: Landsat Burned Area или ручная оцифровка Sentinel-2.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14337" y="6576222"/>
            <a:ext cx="11683708" cy="168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1–1,5 мин и 20–30 мин — операционные замеры демо, а не метрики из validation_report.md.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1620805" y="6560641"/>
            <a:ext cx="570890" cy="150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2026-10-23T04:31:38Z</dcterms:created>
  <dcterms:modified xsi:type="dcterms:W3CDTF">2026-10-23T04:31:38Z</dcterms:modified>
</cp:coreProperties>
</file>